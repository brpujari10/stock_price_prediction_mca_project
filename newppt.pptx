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5" r:id="rId16"/>
    <p:sldId id="276" r:id="rId17"/>
    <p:sldId id="277" r:id="rId18"/>
    <p:sldId id="272" r:id="rId19"/>
    <p:sldId id="274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D3E0C3-15F6-4754-B7C3-5DE9B665194E}" type="doc">
      <dgm:prSet loTypeId="urn:microsoft.com/office/officeart/2005/8/layout/orgChart1" loCatId="hierarchy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B649661-FFFF-453C-9ADE-822182AFA55A}">
      <dgm:prSet phldrT="[Text]" custT="1"/>
      <dgm:spPr>
        <a:xfrm>
          <a:off x="1962149" y="361948"/>
          <a:ext cx="1562101" cy="707108"/>
        </a:xfrm>
      </dgm:spPr>
      <dgm:t>
        <a:bodyPr/>
        <a:lstStyle/>
        <a:p>
          <a:pPr algn="ctr"/>
          <a:r>
            <a:rPr lang="en-IN" sz="1400" b="1" u="none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REVIEW OF LITERATURE</a:t>
          </a:r>
          <a:endParaRPr lang="en-US" sz="1400" u="none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096D87C2-EA48-4B67-98D8-8DC0ABB71ED5}" type="parTrans" cxnId="{267CA388-85E8-4762-A82B-47C5692CB12E}">
      <dgm:prSet/>
      <dgm:spPr/>
      <dgm:t>
        <a:bodyPr/>
        <a:lstStyle/>
        <a:p>
          <a:pPr algn="ctr"/>
          <a:endParaRPr lang="en-US"/>
        </a:p>
      </dgm:t>
    </dgm:pt>
    <dgm:pt modelId="{66885535-7E5E-4781-A9DB-63B3E69CA405}" type="sibTrans" cxnId="{267CA388-85E8-4762-A82B-47C5692CB12E}">
      <dgm:prSet/>
      <dgm:spPr/>
      <dgm:t>
        <a:bodyPr/>
        <a:lstStyle/>
        <a:p>
          <a:pPr algn="ctr"/>
          <a:endParaRPr lang="en-US"/>
        </a:p>
      </dgm:t>
    </dgm:pt>
    <dgm:pt modelId="{3BBA0B1B-FBB3-45A1-B788-DFB225535291}">
      <dgm:prSet phldrT="[Text]" custT="1"/>
      <dgm:spPr>
        <a:xfrm>
          <a:off x="2837" y="1317642"/>
          <a:ext cx="1183741" cy="920732"/>
        </a:xfrm>
      </dgm:spPr>
      <dgm:t>
        <a:bodyPr/>
        <a:lstStyle/>
        <a:p>
          <a:pPr algn="ctr"/>
          <a:r>
            <a:rPr lang="en-US" sz="1400" b="1">
              <a:latin typeface="Times New Roman" panose="02020603050405020304" pitchFamily="18" charset="0"/>
              <a:cs typeface="Times New Roman" panose="02020603050405020304" pitchFamily="18" charset="0"/>
            </a:rPr>
            <a:t>Study Stock Market </a:t>
          </a:r>
          <a:endParaRPr lang="en-US" sz="1400" b="1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E35077F1-E15A-46A4-B8A8-6B6886838661}" type="parTrans" cxnId="{3D17422B-376F-4808-9702-CE807C7C70B4}">
      <dgm:prSet/>
      <dgm:spPr>
        <a:xfrm>
          <a:off x="594708" y="1069056"/>
          <a:ext cx="2148491" cy="248585"/>
        </a:xfrm>
      </dgm:spPr>
      <dgm:t>
        <a:bodyPr/>
        <a:lstStyle/>
        <a:p>
          <a:pPr algn="ctr"/>
          <a:endParaRPr lang="en-US"/>
        </a:p>
      </dgm:t>
    </dgm:pt>
    <dgm:pt modelId="{74E15F1F-2715-49AC-BAF6-BFD39E009229}" type="sibTrans" cxnId="{3D17422B-376F-4808-9702-CE807C7C70B4}">
      <dgm:prSet/>
      <dgm:spPr/>
      <dgm:t>
        <a:bodyPr/>
        <a:lstStyle/>
        <a:p>
          <a:pPr algn="ctr"/>
          <a:endParaRPr lang="en-US"/>
        </a:p>
      </dgm:t>
    </dgm:pt>
    <dgm:pt modelId="{6028B701-E398-4848-982D-4CB1950F4D0B}">
      <dgm:prSet phldrT="[Text]" custT="1"/>
      <dgm:spPr>
        <a:xfrm>
          <a:off x="4299820" y="1317642"/>
          <a:ext cx="1183741" cy="868594"/>
        </a:xfrm>
      </dgm:spPr>
      <dgm:t>
        <a:bodyPr/>
        <a:lstStyle/>
        <a:p>
          <a:pPr algn="ctr"/>
          <a:r>
            <a:rPr lang="en-US" sz="1400" b="1">
              <a:latin typeface="Times New Roman" panose="02020603050405020304" pitchFamily="18" charset="0"/>
              <a:cs typeface="Times New Roman" panose="02020603050405020304" pitchFamily="18" charset="0"/>
            </a:rPr>
            <a:t>Using Machine Learning</a:t>
          </a:r>
          <a:endParaRPr lang="en-US" sz="1400" b="1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6574A344-46E1-4916-B523-C2018F4ED968}" type="parTrans" cxnId="{61456D78-BC84-4E0D-A57C-8E14ACD951DB}">
      <dgm:prSet/>
      <dgm:spPr>
        <a:xfrm>
          <a:off x="2743200" y="1069056"/>
          <a:ext cx="2148491" cy="248585"/>
        </a:xfrm>
      </dgm:spPr>
      <dgm:t>
        <a:bodyPr/>
        <a:lstStyle/>
        <a:p>
          <a:pPr algn="ctr"/>
          <a:endParaRPr lang="en-US"/>
        </a:p>
      </dgm:t>
    </dgm:pt>
    <dgm:pt modelId="{987D9ECB-AEBD-4282-B747-01208E9372E4}" type="sibTrans" cxnId="{61456D78-BC84-4E0D-A57C-8E14ACD951DB}">
      <dgm:prSet/>
      <dgm:spPr/>
      <dgm:t>
        <a:bodyPr/>
        <a:lstStyle/>
        <a:p>
          <a:pPr algn="ctr"/>
          <a:endParaRPr lang="en-US"/>
        </a:p>
      </dgm:t>
    </dgm:pt>
    <dgm:pt modelId="{8F7335CD-62AE-4350-9661-206743A138D2}">
      <dgm:prSet custT="1"/>
      <dgm:spPr>
        <a:xfrm>
          <a:off x="1435165" y="1317642"/>
          <a:ext cx="1183741" cy="939784"/>
        </a:xfrm>
      </dgm:spPr>
      <dgm:t>
        <a:bodyPr/>
        <a:lstStyle/>
        <a:p>
          <a:pPr algn="ctr"/>
          <a:r>
            <a:rPr lang="en-US" sz="1400" b="1">
              <a:latin typeface="Times New Roman" panose="02020603050405020304" pitchFamily="18" charset="0"/>
              <a:cs typeface="Times New Roman" panose="02020603050405020304" pitchFamily="18" charset="0"/>
            </a:rPr>
            <a:t>Prediction </a:t>
          </a:r>
        </a:p>
      </dgm:t>
    </dgm:pt>
    <dgm:pt modelId="{CADB9B73-7827-4DCA-8810-D2CEB38BBF60}" type="parTrans" cxnId="{3AC61EEF-1E67-4AF6-B73F-845B207CA13E}">
      <dgm:prSet/>
      <dgm:spPr>
        <a:xfrm>
          <a:off x="2027036" y="1069056"/>
          <a:ext cx="716163" cy="248585"/>
        </a:xfrm>
      </dgm:spPr>
      <dgm:t>
        <a:bodyPr/>
        <a:lstStyle/>
        <a:p>
          <a:pPr algn="ctr"/>
          <a:endParaRPr lang="en-US"/>
        </a:p>
      </dgm:t>
    </dgm:pt>
    <dgm:pt modelId="{6398C623-E90E-4113-B4F7-E471D548394E}" type="sibTrans" cxnId="{3AC61EEF-1E67-4AF6-B73F-845B207CA13E}">
      <dgm:prSet/>
      <dgm:spPr/>
      <dgm:t>
        <a:bodyPr/>
        <a:lstStyle/>
        <a:p>
          <a:pPr algn="ctr"/>
          <a:endParaRPr lang="en-US"/>
        </a:p>
      </dgm:t>
    </dgm:pt>
    <dgm:pt modelId="{AC52EE64-E58E-4002-A8FC-929E71F07ECA}" type="pres">
      <dgm:prSet presAssocID="{E4D3E0C3-15F6-4754-B7C3-5DE9B665194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BDC7FBD-F337-47CA-80C8-ECD87F21D5BA}" type="pres">
      <dgm:prSet presAssocID="{7B649661-FFFF-453C-9ADE-822182AFA55A}" presName="hierRoot1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60CF34F2-ED7F-4A94-A54F-574D5BE0EDDF}" type="pres">
      <dgm:prSet presAssocID="{7B649661-FFFF-453C-9ADE-822182AFA55A}" presName="rootComposite1" presStyleCnt="0"/>
      <dgm:spPr/>
      <dgm:t>
        <a:bodyPr/>
        <a:lstStyle/>
        <a:p>
          <a:endParaRPr lang="en-US"/>
        </a:p>
      </dgm:t>
    </dgm:pt>
    <dgm:pt modelId="{0280F95D-26F7-408D-99A6-422D2BC76222}" type="pres">
      <dgm:prSet presAssocID="{7B649661-FFFF-453C-9ADE-822182AFA55A}" presName="rootText1" presStyleLbl="node0" presStyleIdx="0" presStyleCnt="1" custScaleX="165172" custScaleY="212060">
        <dgm:presLayoutVars>
          <dgm:chPref val="3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3CB4A20B-91F5-4451-A94C-C5375081DBC7}" type="pres">
      <dgm:prSet presAssocID="{7B649661-FFFF-453C-9ADE-822182AFA55A}" presName="rootConnector1" presStyleLbl="node1" presStyleIdx="0" presStyleCnt="0"/>
      <dgm:spPr/>
      <dgm:t>
        <a:bodyPr/>
        <a:lstStyle/>
        <a:p>
          <a:endParaRPr lang="en-US"/>
        </a:p>
      </dgm:t>
    </dgm:pt>
    <dgm:pt modelId="{BB156E4B-47E8-4457-BCBF-4166EF5C0C49}" type="pres">
      <dgm:prSet presAssocID="{7B649661-FFFF-453C-9ADE-822182AFA55A}" presName="hierChild2" presStyleCnt="0"/>
      <dgm:spPr/>
      <dgm:t>
        <a:bodyPr/>
        <a:lstStyle/>
        <a:p>
          <a:endParaRPr lang="en-US"/>
        </a:p>
      </dgm:t>
    </dgm:pt>
    <dgm:pt modelId="{1198A897-26CD-4C3F-9250-7B5A8C46316A}" type="pres">
      <dgm:prSet presAssocID="{E35077F1-E15A-46A4-B8A8-6B6886838661}" presName="Name37" presStyleLbl="parChTrans1D2" presStyleIdx="0" presStyleCnt="3"/>
      <dgm:spPr>
        <a:custGeom>
          <a:avLst/>
          <a:gdLst/>
          <a:ahLst/>
          <a:cxnLst/>
          <a:rect l="0" t="0" r="0" b="0"/>
          <a:pathLst>
            <a:path>
              <a:moveTo>
                <a:pt x="2148491" y="0"/>
              </a:moveTo>
              <a:lnTo>
                <a:pt x="2148491" y="124292"/>
              </a:lnTo>
              <a:lnTo>
                <a:pt x="0" y="124292"/>
              </a:lnTo>
              <a:lnTo>
                <a:pt x="0" y="248585"/>
              </a:lnTo>
            </a:path>
          </a:pathLst>
        </a:custGeom>
      </dgm:spPr>
      <dgm:t>
        <a:bodyPr/>
        <a:lstStyle/>
        <a:p>
          <a:endParaRPr lang="en-US"/>
        </a:p>
      </dgm:t>
    </dgm:pt>
    <dgm:pt modelId="{A4900D15-6ECD-4F19-9545-9C2313BBCD48}" type="pres">
      <dgm:prSet presAssocID="{3BBA0B1B-FBB3-45A1-B788-DFB225535291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63F0FAAD-8BEB-44FC-8ED7-B39F5849AB82}" type="pres">
      <dgm:prSet presAssocID="{3BBA0B1B-FBB3-45A1-B788-DFB225535291}" presName="rootComposite" presStyleCnt="0"/>
      <dgm:spPr/>
      <dgm:t>
        <a:bodyPr/>
        <a:lstStyle/>
        <a:p>
          <a:endParaRPr lang="en-US"/>
        </a:p>
      </dgm:t>
    </dgm:pt>
    <dgm:pt modelId="{94D84467-F5F2-4770-BFEF-EDA99A13D741}" type="pres">
      <dgm:prSet presAssocID="{3BBA0B1B-FBB3-45A1-B788-DFB225535291}" presName="rootText" presStyleLbl="node2" presStyleIdx="0" presStyleCnt="3" custScaleX="149542" custScaleY="187323" custLinFactNeighborX="1321" custLinFactNeighborY="3464">
        <dgm:presLayoutVars>
          <dgm:chPref val="3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DBCE167A-22F3-458E-B619-74867F428E27}" type="pres">
      <dgm:prSet presAssocID="{3BBA0B1B-FBB3-45A1-B788-DFB225535291}" presName="rootConnector" presStyleLbl="node2" presStyleIdx="0" presStyleCnt="3"/>
      <dgm:spPr/>
      <dgm:t>
        <a:bodyPr/>
        <a:lstStyle/>
        <a:p>
          <a:endParaRPr lang="en-US"/>
        </a:p>
      </dgm:t>
    </dgm:pt>
    <dgm:pt modelId="{84BA7C63-098E-4392-A7D7-B85638D1863C}" type="pres">
      <dgm:prSet presAssocID="{3BBA0B1B-FBB3-45A1-B788-DFB225535291}" presName="hierChild4" presStyleCnt="0"/>
      <dgm:spPr/>
      <dgm:t>
        <a:bodyPr/>
        <a:lstStyle/>
        <a:p>
          <a:endParaRPr lang="en-US"/>
        </a:p>
      </dgm:t>
    </dgm:pt>
    <dgm:pt modelId="{A401CACF-CADC-4EED-BD05-AE21FF7C77E7}" type="pres">
      <dgm:prSet presAssocID="{3BBA0B1B-FBB3-45A1-B788-DFB225535291}" presName="hierChild5" presStyleCnt="0"/>
      <dgm:spPr/>
      <dgm:t>
        <a:bodyPr/>
        <a:lstStyle/>
        <a:p>
          <a:endParaRPr lang="en-US"/>
        </a:p>
      </dgm:t>
    </dgm:pt>
    <dgm:pt modelId="{3728DA60-B58C-4F3C-9C48-C0F2F3A5EDEB}" type="pres">
      <dgm:prSet presAssocID="{CADB9B73-7827-4DCA-8810-D2CEB38BBF60}" presName="Name37" presStyleLbl="parChTrans1D2" presStyleIdx="1" presStyleCnt="3"/>
      <dgm:spPr>
        <a:custGeom>
          <a:avLst/>
          <a:gdLst/>
          <a:ahLst/>
          <a:cxnLst/>
          <a:rect l="0" t="0" r="0" b="0"/>
          <a:pathLst>
            <a:path>
              <a:moveTo>
                <a:pt x="716163" y="0"/>
              </a:moveTo>
              <a:lnTo>
                <a:pt x="716163" y="124292"/>
              </a:lnTo>
              <a:lnTo>
                <a:pt x="0" y="124292"/>
              </a:lnTo>
              <a:lnTo>
                <a:pt x="0" y="248585"/>
              </a:lnTo>
            </a:path>
          </a:pathLst>
        </a:custGeom>
      </dgm:spPr>
      <dgm:t>
        <a:bodyPr/>
        <a:lstStyle/>
        <a:p>
          <a:endParaRPr lang="en-US"/>
        </a:p>
      </dgm:t>
    </dgm:pt>
    <dgm:pt modelId="{359FDB77-85FB-4828-9B35-4E089048647F}" type="pres">
      <dgm:prSet presAssocID="{8F7335CD-62AE-4350-9661-206743A138D2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BFA872C4-74DF-4D14-9904-6F33ECF41BD1}" type="pres">
      <dgm:prSet presAssocID="{8F7335CD-62AE-4350-9661-206743A138D2}" presName="rootComposite" presStyleCnt="0"/>
      <dgm:spPr/>
      <dgm:t>
        <a:bodyPr/>
        <a:lstStyle/>
        <a:p>
          <a:endParaRPr lang="en-US"/>
        </a:p>
      </dgm:t>
    </dgm:pt>
    <dgm:pt modelId="{A740F4F2-4E52-4F93-AFB7-40C3FD208A03}" type="pres">
      <dgm:prSet presAssocID="{8F7335CD-62AE-4350-9661-206743A138D2}" presName="rootText" presStyleLbl="node2" presStyleIdx="1" presStyleCnt="3" custScaleX="131668" custScaleY="186167" custLinFactNeighborX="2382" custLinFactNeighborY="4208">
        <dgm:presLayoutVars>
          <dgm:chPref val="3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9BCD450D-4AFC-4B0E-912C-D32C20BCF1A5}" type="pres">
      <dgm:prSet presAssocID="{8F7335CD-62AE-4350-9661-206743A138D2}" presName="rootConnector" presStyleLbl="node2" presStyleIdx="1" presStyleCnt="3"/>
      <dgm:spPr/>
      <dgm:t>
        <a:bodyPr/>
        <a:lstStyle/>
        <a:p>
          <a:endParaRPr lang="en-US"/>
        </a:p>
      </dgm:t>
    </dgm:pt>
    <dgm:pt modelId="{10EA3DD0-8D18-46C1-9A8A-A9BFD9BD0722}" type="pres">
      <dgm:prSet presAssocID="{8F7335CD-62AE-4350-9661-206743A138D2}" presName="hierChild4" presStyleCnt="0"/>
      <dgm:spPr/>
      <dgm:t>
        <a:bodyPr/>
        <a:lstStyle/>
        <a:p>
          <a:endParaRPr lang="en-US"/>
        </a:p>
      </dgm:t>
    </dgm:pt>
    <dgm:pt modelId="{D6B714C0-587F-4823-A7C3-39A1D1DEF0FE}" type="pres">
      <dgm:prSet presAssocID="{8F7335CD-62AE-4350-9661-206743A138D2}" presName="hierChild5" presStyleCnt="0"/>
      <dgm:spPr/>
      <dgm:t>
        <a:bodyPr/>
        <a:lstStyle/>
        <a:p>
          <a:endParaRPr lang="en-US"/>
        </a:p>
      </dgm:t>
    </dgm:pt>
    <dgm:pt modelId="{B9AF69F0-EE92-4126-A50B-FC20DBA8A651}" type="pres">
      <dgm:prSet presAssocID="{6574A344-46E1-4916-B523-C2018F4ED968}" presName="Name37" presStyleLbl="parChTrans1D2" presStyleIdx="2" presStyleCnt="3"/>
      <dgm:spPr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292"/>
              </a:lnTo>
              <a:lnTo>
                <a:pt x="2148491" y="124292"/>
              </a:lnTo>
              <a:lnTo>
                <a:pt x="2148491" y="248585"/>
              </a:lnTo>
            </a:path>
          </a:pathLst>
        </a:custGeom>
      </dgm:spPr>
      <dgm:t>
        <a:bodyPr/>
        <a:lstStyle/>
        <a:p>
          <a:endParaRPr lang="en-US"/>
        </a:p>
      </dgm:t>
    </dgm:pt>
    <dgm:pt modelId="{8A5B4D5E-D68F-4308-8EE6-16044711F9E4}" type="pres">
      <dgm:prSet presAssocID="{6028B701-E398-4848-982D-4CB1950F4D0B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3E3C482D-C4A4-4C5E-BC25-84F48C185A1C}" type="pres">
      <dgm:prSet presAssocID="{6028B701-E398-4848-982D-4CB1950F4D0B}" presName="rootComposite" presStyleCnt="0"/>
      <dgm:spPr/>
      <dgm:t>
        <a:bodyPr/>
        <a:lstStyle/>
        <a:p>
          <a:endParaRPr lang="en-US"/>
        </a:p>
      </dgm:t>
    </dgm:pt>
    <dgm:pt modelId="{AD8FB645-DD09-4C5C-B430-50EED1AF0456}" type="pres">
      <dgm:prSet presAssocID="{6028B701-E398-4848-982D-4CB1950F4D0B}" presName="rootText" presStyleLbl="node2" presStyleIdx="2" presStyleCnt="3" custScaleX="142433" custScaleY="191738" custLinFactX="39174" custLinFactNeighborX="100000" custLinFactNeighborY="13">
        <dgm:presLayoutVars>
          <dgm:chPref val="3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CDDC7D61-34FA-4497-9BEC-414F76808F2F}" type="pres">
      <dgm:prSet presAssocID="{6028B701-E398-4848-982D-4CB1950F4D0B}" presName="rootConnector" presStyleLbl="node2" presStyleIdx="2" presStyleCnt="3"/>
      <dgm:spPr/>
      <dgm:t>
        <a:bodyPr/>
        <a:lstStyle/>
        <a:p>
          <a:endParaRPr lang="en-US"/>
        </a:p>
      </dgm:t>
    </dgm:pt>
    <dgm:pt modelId="{893CB153-FC2D-46F8-B006-81A13648D20E}" type="pres">
      <dgm:prSet presAssocID="{6028B701-E398-4848-982D-4CB1950F4D0B}" presName="hierChild4" presStyleCnt="0"/>
      <dgm:spPr/>
      <dgm:t>
        <a:bodyPr/>
        <a:lstStyle/>
        <a:p>
          <a:endParaRPr lang="en-US"/>
        </a:p>
      </dgm:t>
    </dgm:pt>
    <dgm:pt modelId="{624E29AF-A038-450F-9ED3-5F5FBE4CC0E4}" type="pres">
      <dgm:prSet presAssocID="{6028B701-E398-4848-982D-4CB1950F4D0B}" presName="hierChild5" presStyleCnt="0"/>
      <dgm:spPr/>
      <dgm:t>
        <a:bodyPr/>
        <a:lstStyle/>
        <a:p>
          <a:endParaRPr lang="en-US"/>
        </a:p>
      </dgm:t>
    </dgm:pt>
    <dgm:pt modelId="{14AC87DD-38E5-4EF1-A964-0828CDD0DB76}" type="pres">
      <dgm:prSet presAssocID="{7B649661-FFFF-453C-9ADE-822182AFA55A}" presName="hierChild3" presStyleCnt="0"/>
      <dgm:spPr/>
      <dgm:t>
        <a:bodyPr/>
        <a:lstStyle/>
        <a:p>
          <a:endParaRPr lang="en-US"/>
        </a:p>
      </dgm:t>
    </dgm:pt>
  </dgm:ptLst>
  <dgm:cxnLst>
    <dgm:cxn modelId="{8A92F303-EBE5-4EF5-82B1-A5EA4CB6E733}" type="presOf" srcId="{7B649661-FFFF-453C-9ADE-822182AFA55A}" destId="{3CB4A20B-91F5-4451-A94C-C5375081DBC7}" srcOrd="1" destOrd="0" presId="urn:microsoft.com/office/officeart/2005/8/layout/orgChart1"/>
    <dgm:cxn modelId="{C9D938C9-9399-4931-A0D4-942B09B04C08}" type="presOf" srcId="{3BBA0B1B-FBB3-45A1-B788-DFB225535291}" destId="{94D84467-F5F2-4770-BFEF-EDA99A13D741}" srcOrd="0" destOrd="0" presId="urn:microsoft.com/office/officeart/2005/8/layout/orgChart1"/>
    <dgm:cxn modelId="{13DAE342-26EC-4D98-B9F1-02417D6553F3}" type="presOf" srcId="{3BBA0B1B-FBB3-45A1-B788-DFB225535291}" destId="{DBCE167A-22F3-458E-B619-74867F428E27}" srcOrd="1" destOrd="0" presId="urn:microsoft.com/office/officeart/2005/8/layout/orgChart1"/>
    <dgm:cxn modelId="{9F961C47-B00F-4080-8B9E-438289636E84}" type="presOf" srcId="{6028B701-E398-4848-982D-4CB1950F4D0B}" destId="{CDDC7D61-34FA-4497-9BEC-414F76808F2F}" srcOrd="1" destOrd="0" presId="urn:microsoft.com/office/officeart/2005/8/layout/orgChart1"/>
    <dgm:cxn modelId="{E76FE056-3CC8-4245-B875-1344A91DD458}" type="presOf" srcId="{6574A344-46E1-4916-B523-C2018F4ED968}" destId="{B9AF69F0-EE92-4126-A50B-FC20DBA8A651}" srcOrd="0" destOrd="0" presId="urn:microsoft.com/office/officeart/2005/8/layout/orgChart1"/>
    <dgm:cxn modelId="{089ECAC2-6BD6-4107-A7FD-90A5B8446177}" type="presOf" srcId="{8F7335CD-62AE-4350-9661-206743A138D2}" destId="{A740F4F2-4E52-4F93-AFB7-40C3FD208A03}" srcOrd="0" destOrd="0" presId="urn:microsoft.com/office/officeart/2005/8/layout/orgChart1"/>
    <dgm:cxn modelId="{3AC61EEF-1E67-4AF6-B73F-845B207CA13E}" srcId="{7B649661-FFFF-453C-9ADE-822182AFA55A}" destId="{8F7335CD-62AE-4350-9661-206743A138D2}" srcOrd="1" destOrd="0" parTransId="{CADB9B73-7827-4DCA-8810-D2CEB38BBF60}" sibTransId="{6398C623-E90E-4113-B4F7-E471D548394E}"/>
    <dgm:cxn modelId="{3D17422B-376F-4808-9702-CE807C7C70B4}" srcId="{7B649661-FFFF-453C-9ADE-822182AFA55A}" destId="{3BBA0B1B-FBB3-45A1-B788-DFB225535291}" srcOrd="0" destOrd="0" parTransId="{E35077F1-E15A-46A4-B8A8-6B6886838661}" sibTransId="{74E15F1F-2715-49AC-BAF6-BFD39E009229}"/>
    <dgm:cxn modelId="{633D3851-800D-4BBA-AD0B-B184F3140C94}" type="presOf" srcId="{6028B701-E398-4848-982D-4CB1950F4D0B}" destId="{AD8FB645-DD09-4C5C-B430-50EED1AF0456}" srcOrd="0" destOrd="0" presId="urn:microsoft.com/office/officeart/2005/8/layout/orgChart1"/>
    <dgm:cxn modelId="{BAA7FBB8-C5D4-4F03-8717-6A8C926B2DFE}" type="presOf" srcId="{8F7335CD-62AE-4350-9661-206743A138D2}" destId="{9BCD450D-4AFC-4B0E-912C-D32C20BCF1A5}" srcOrd="1" destOrd="0" presId="urn:microsoft.com/office/officeart/2005/8/layout/orgChart1"/>
    <dgm:cxn modelId="{4917FB4D-13B0-4226-9B95-D04042E4465A}" type="presOf" srcId="{7B649661-FFFF-453C-9ADE-822182AFA55A}" destId="{0280F95D-26F7-408D-99A6-422D2BC76222}" srcOrd="0" destOrd="0" presId="urn:microsoft.com/office/officeart/2005/8/layout/orgChart1"/>
    <dgm:cxn modelId="{CD7CAB68-7265-47B7-A29B-48256086E80F}" type="presOf" srcId="{CADB9B73-7827-4DCA-8810-D2CEB38BBF60}" destId="{3728DA60-B58C-4F3C-9C48-C0F2F3A5EDEB}" srcOrd="0" destOrd="0" presId="urn:microsoft.com/office/officeart/2005/8/layout/orgChart1"/>
    <dgm:cxn modelId="{AC050858-E0F7-43CB-BF97-303E40395A12}" type="presOf" srcId="{E4D3E0C3-15F6-4754-B7C3-5DE9B665194E}" destId="{AC52EE64-E58E-4002-A8FC-929E71F07ECA}" srcOrd="0" destOrd="0" presId="urn:microsoft.com/office/officeart/2005/8/layout/orgChart1"/>
    <dgm:cxn modelId="{60D0CF9F-B64F-42CF-B19E-A20E92F71910}" type="presOf" srcId="{E35077F1-E15A-46A4-B8A8-6B6886838661}" destId="{1198A897-26CD-4C3F-9250-7B5A8C46316A}" srcOrd="0" destOrd="0" presId="urn:microsoft.com/office/officeart/2005/8/layout/orgChart1"/>
    <dgm:cxn modelId="{61456D78-BC84-4E0D-A57C-8E14ACD951DB}" srcId="{7B649661-FFFF-453C-9ADE-822182AFA55A}" destId="{6028B701-E398-4848-982D-4CB1950F4D0B}" srcOrd="2" destOrd="0" parTransId="{6574A344-46E1-4916-B523-C2018F4ED968}" sibTransId="{987D9ECB-AEBD-4282-B747-01208E9372E4}"/>
    <dgm:cxn modelId="{267CA388-85E8-4762-A82B-47C5692CB12E}" srcId="{E4D3E0C3-15F6-4754-B7C3-5DE9B665194E}" destId="{7B649661-FFFF-453C-9ADE-822182AFA55A}" srcOrd="0" destOrd="0" parTransId="{096D87C2-EA48-4B67-98D8-8DC0ABB71ED5}" sibTransId="{66885535-7E5E-4781-A9DB-63B3E69CA405}"/>
    <dgm:cxn modelId="{4D789773-06A9-4C40-AC13-9D0335EE8DB3}" type="presParOf" srcId="{AC52EE64-E58E-4002-A8FC-929E71F07ECA}" destId="{4BDC7FBD-F337-47CA-80C8-ECD87F21D5BA}" srcOrd="0" destOrd="0" presId="urn:microsoft.com/office/officeart/2005/8/layout/orgChart1"/>
    <dgm:cxn modelId="{073CB90F-6A9C-4D13-9887-81D5075E7E47}" type="presParOf" srcId="{4BDC7FBD-F337-47CA-80C8-ECD87F21D5BA}" destId="{60CF34F2-ED7F-4A94-A54F-574D5BE0EDDF}" srcOrd="0" destOrd="0" presId="urn:microsoft.com/office/officeart/2005/8/layout/orgChart1"/>
    <dgm:cxn modelId="{1E2EEE8D-E27A-4C31-9B19-0B7F04D9EC1A}" type="presParOf" srcId="{60CF34F2-ED7F-4A94-A54F-574D5BE0EDDF}" destId="{0280F95D-26F7-408D-99A6-422D2BC76222}" srcOrd="0" destOrd="0" presId="urn:microsoft.com/office/officeart/2005/8/layout/orgChart1"/>
    <dgm:cxn modelId="{01049811-4057-4975-8571-A7A3B932D1CB}" type="presParOf" srcId="{60CF34F2-ED7F-4A94-A54F-574D5BE0EDDF}" destId="{3CB4A20B-91F5-4451-A94C-C5375081DBC7}" srcOrd="1" destOrd="0" presId="urn:microsoft.com/office/officeart/2005/8/layout/orgChart1"/>
    <dgm:cxn modelId="{6BC0B2C8-DEF8-4FAA-99B1-B439DEFBAD67}" type="presParOf" srcId="{4BDC7FBD-F337-47CA-80C8-ECD87F21D5BA}" destId="{BB156E4B-47E8-4457-BCBF-4166EF5C0C49}" srcOrd="1" destOrd="0" presId="urn:microsoft.com/office/officeart/2005/8/layout/orgChart1"/>
    <dgm:cxn modelId="{EBE1B2A2-C1C1-4F9F-B69F-C789E5F378E0}" type="presParOf" srcId="{BB156E4B-47E8-4457-BCBF-4166EF5C0C49}" destId="{1198A897-26CD-4C3F-9250-7B5A8C46316A}" srcOrd="0" destOrd="0" presId="urn:microsoft.com/office/officeart/2005/8/layout/orgChart1"/>
    <dgm:cxn modelId="{04C947B2-F608-4CC3-8FA4-F4294533A55D}" type="presParOf" srcId="{BB156E4B-47E8-4457-BCBF-4166EF5C0C49}" destId="{A4900D15-6ECD-4F19-9545-9C2313BBCD48}" srcOrd="1" destOrd="0" presId="urn:microsoft.com/office/officeart/2005/8/layout/orgChart1"/>
    <dgm:cxn modelId="{424A32C0-338A-40A2-82CF-9E83ED6AD095}" type="presParOf" srcId="{A4900D15-6ECD-4F19-9545-9C2313BBCD48}" destId="{63F0FAAD-8BEB-44FC-8ED7-B39F5849AB82}" srcOrd="0" destOrd="0" presId="urn:microsoft.com/office/officeart/2005/8/layout/orgChart1"/>
    <dgm:cxn modelId="{36C56B74-1075-4E2E-B6E1-C7D93BF1014D}" type="presParOf" srcId="{63F0FAAD-8BEB-44FC-8ED7-B39F5849AB82}" destId="{94D84467-F5F2-4770-BFEF-EDA99A13D741}" srcOrd="0" destOrd="0" presId="urn:microsoft.com/office/officeart/2005/8/layout/orgChart1"/>
    <dgm:cxn modelId="{F0479BC9-71CC-4CAA-AC8C-4DD385D648CA}" type="presParOf" srcId="{63F0FAAD-8BEB-44FC-8ED7-B39F5849AB82}" destId="{DBCE167A-22F3-458E-B619-74867F428E27}" srcOrd="1" destOrd="0" presId="urn:microsoft.com/office/officeart/2005/8/layout/orgChart1"/>
    <dgm:cxn modelId="{A2ABA648-E79C-4E79-A21F-5382965A98D8}" type="presParOf" srcId="{A4900D15-6ECD-4F19-9545-9C2313BBCD48}" destId="{84BA7C63-098E-4392-A7D7-B85638D1863C}" srcOrd="1" destOrd="0" presId="urn:microsoft.com/office/officeart/2005/8/layout/orgChart1"/>
    <dgm:cxn modelId="{DB92BB2B-B2B4-4D89-83B1-EB7C1C346117}" type="presParOf" srcId="{A4900D15-6ECD-4F19-9545-9C2313BBCD48}" destId="{A401CACF-CADC-4EED-BD05-AE21FF7C77E7}" srcOrd="2" destOrd="0" presId="urn:microsoft.com/office/officeart/2005/8/layout/orgChart1"/>
    <dgm:cxn modelId="{1E764E56-86B3-4EC1-B528-B4B54EEC4C04}" type="presParOf" srcId="{BB156E4B-47E8-4457-BCBF-4166EF5C0C49}" destId="{3728DA60-B58C-4F3C-9C48-C0F2F3A5EDEB}" srcOrd="2" destOrd="0" presId="urn:microsoft.com/office/officeart/2005/8/layout/orgChart1"/>
    <dgm:cxn modelId="{75163B03-28F6-4894-B229-BFF9D660582F}" type="presParOf" srcId="{BB156E4B-47E8-4457-BCBF-4166EF5C0C49}" destId="{359FDB77-85FB-4828-9B35-4E089048647F}" srcOrd="3" destOrd="0" presId="urn:microsoft.com/office/officeart/2005/8/layout/orgChart1"/>
    <dgm:cxn modelId="{15C844C5-7F43-4882-B765-12FE2A4B3742}" type="presParOf" srcId="{359FDB77-85FB-4828-9B35-4E089048647F}" destId="{BFA872C4-74DF-4D14-9904-6F33ECF41BD1}" srcOrd="0" destOrd="0" presId="urn:microsoft.com/office/officeart/2005/8/layout/orgChart1"/>
    <dgm:cxn modelId="{05E92902-E8CD-4E72-8CAC-5917D7A719C6}" type="presParOf" srcId="{BFA872C4-74DF-4D14-9904-6F33ECF41BD1}" destId="{A740F4F2-4E52-4F93-AFB7-40C3FD208A03}" srcOrd="0" destOrd="0" presId="urn:microsoft.com/office/officeart/2005/8/layout/orgChart1"/>
    <dgm:cxn modelId="{67433075-6F68-41CE-8BA8-5BF0248B3309}" type="presParOf" srcId="{BFA872C4-74DF-4D14-9904-6F33ECF41BD1}" destId="{9BCD450D-4AFC-4B0E-912C-D32C20BCF1A5}" srcOrd="1" destOrd="0" presId="urn:microsoft.com/office/officeart/2005/8/layout/orgChart1"/>
    <dgm:cxn modelId="{27AA7524-13EA-431F-B0E7-8109D30695A2}" type="presParOf" srcId="{359FDB77-85FB-4828-9B35-4E089048647F}" destId="{10EA3DD0-8D18-46C1-9A8A-A9BFD9BD0722}" srcOrd="1" destOrd="0" presId="urn:microsoft.com/office/officeart/2005/8/layout/orgChart1"/>
    <dgm:cxn modelId="{BEE50B5B-0DAE-4211-A56C-7C7EFF133956}" type="presParOf" srcId="{359FDB77-85FB-4828-9B35-4E089048647F}" destId="{D6B714C0-587F-4823-A7C3-39A1D1DEF0FE}" srcOrd="2" destOrd="0" presId="urn:microsoft.com/office/officeart/2005/8/layout/orgChart1"/>
    <dgm:cxn modelId="{755F75C0-AA6F-4280-BF5B-76C709FECFBA}" type="presParOf" srcId="{BB156E4B-47E8-4457-BCBF-4166EF5C0C49}" destId="{B9AF69F0-EE92-4126-A50B-FC20DBA8A651}" srcOrd="4" destOrd="0" presId="urn:microsoft.com/office/officeart/2005/8/layout/orgChart1"/>
    <dgm:cxn modelId="{7A2B2A45-E667-4760-B778-834E33B2E75D}" type="presParOf" srcId="{BB156E4B-47E8-4457-BCBF-4166EF5C0C49}" destId="{8A5B4D5E-D68F-4308-8EE6-16044711F9E4}" srcOrd="5" destOrd="0" presId="urn:microsoft.com/office/officeart/2005/8/layout/orgChart1"/>
    <dgm:cxn modelId="{38702ECC-0FD5-4CFC-A732-B2C3BE14C8E0}" type="presParOf" srcId="{8A5B4D5E-D68F-4308-8EE6-16044711F9E4}" destId="{3E3C482D-C4A4-4C5E-BC25-84F48C185A1C}" srcOrd="0" destOrd="0" presId="urn:microsoft.com/office/officeart/2005/8/layout/orgChart1"/>
    <dgm:cxn modelId="{DC850436-5FD3-44A9-BFF0-4707888AFBCC}" type="presParOf" srcId="{3E3C482D-C4A4-4C5E-BC25-84F48C185A1C}" destId="{AD8FB645-DD09-4C5C-B430-50EED1AF0456}" srcOrd="0" destOrd="0" presId="urn:microsoft.com/office/officeart/2005/8/layout/orgChart1"/>
    <dgm:cxn modelId="{9EFD49DD-C16D-4F55-9113-5CC04F7DBEEC}" type="presParOf" srcId="{3E3C482D-C4A4-4C5E-BC25-84F48C185A1C}" destId="{CDDC7D61-34FA-4497-9BEC-414F76808F2F}" srcOrd="1" destOrd="0" presId="urn:microsoft.com/office/officeart/2005/8/layout/orgChart1"/>
    <dgm:cxn modelId="{230E7114-6A68-43F3-991F-160B8C1A6AB3}" type="presParOf" srcId="{8A5B4D5E-D68F-4308-8EE6-16044711F9E4}" destId="{893CB153-FC2D-46F8-B006-81A13648D20E}" srcOrd="1" destOrd="0" presId="urn:microsoft.com/office/officeart/2005/8/layout/orgChart1"/>
    <dgm:cxn modelId="{25943E45-B403-44FB-B966-378E5F158667}" type="presParOf" srcId="{8A5B4D5E-D68F-4308-8EE6-16044711F9E4}" destId="{624E29AF-A038-450F-9ED3-5F5FBE4CC0E4}" srcOrd="2" destOrd="0" presId="urn:microsoft.com/office/officeart/2005/8/layout/orgChart1"/>
    <dgm:cxn modelId="{B1BDAF21-EE63-4F0B-AA9E-BFCBAB5D4A7E}" type="presParOf" srcId="{4BDC7FBD-F337-47CA-80C8-ECD87F21D5BA}" destId="{14AC87DD-38E5-4EF1-A964-0828CDD0DB7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F69F0-EE92-4126-A50B-FC20DBA8A651}">
      <dsp:nvSpPr>
        <dsp:cNvPr id="0" name=""/>
        <dsp:cNvSpPr/>
      </dsp:nvSpPr>
      <dsp:spPr>
        <a:xfrm>
          <a:off x="4039162" y="2214530"/>
          <a:ext cx="2804900" cy="3640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292"/>
              </a:lnTo>
              <a:lnTo>
                <a:pt x="2148491" y="124292"/>
              </a:lnTo>
              <a:lnTo>
                <a:pt x="2148491" y="248585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28DA60-B58C-4F3C-9C48-C0F2F3A5EDEB}">
      <dsp:nvSpPr>
        <dsp:cNvPr id="0" name=""/>
        <dsp:cNvSpPr/>
      </dsp:nvSpPr>
      <dsp:spPr>
        <a:xfrm>
          <a:off x="4039162" y="2214530"/>
          <a:ext cx="102886" cy="400418"/>
        </a:xfrm>
        <a:custGeom>
          <a:avLst/>
          <a:gdLst/>
          <a:ahLst/>
          <a:cxnLst/>
          <a:rect l="0" t="0" r="0" b="0"/>
          <a:pathLst>
            <a:path>
              <a:moveTo>
                <a:pt x="716163" y="0"/>
              </a:moveTo>
              <a:lnTo>
                <a:pt x="716163" y="124292"/>
              </a:lnTo>
              <a:lnTo>
                <a:pt x="0" y="124292"/>
              </a:lnTo>
              <a:lnTo>
                <a:pt x="0" y="248585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98A897-26CD-4C3F-9250-7B5A8C46316A}">
      <dsp:nvSpPr>
        <dsp:cNvPr id="0" name=""/>
        <dsp:cNvSpPr/>
      </dsp:nvSpPr>
      <dsp:spPr>
        <a:xfrm>
          <a:off x="1322864" y="2214530"/>
          <a:ext cx="2716298" cy="393971"/>
        </a:xfrm>
        <a:custGeom>
          <a:avLst/>
          <a:gdLst/>
          <a:ahLst/>
          <a:cxnLst/>
          <a:rect l="0" t="0" r="0" b="0"/>
          <a:pathLst>
            <a:path>
              <a:moveTo>
                <a:pt x="2148491" y="0"/>
              </a:moveTo>
              <a:lnTo>
                <a:pt x="2148491" y="124292"/>
              </a:lnTo>
              <a:lnTo>
                <a:pt x="0" y="124292"/>
              </a:lnTo>
              <a:lnTo>
                <a:pt x="0" y="248585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80F95D-26F7-408D-99A6-422D2BC76222}">
      <dsp:nvSpPr>
        <dsp:cNvPr id="0" name=""/>
        <dsp:cNvSpPr/>
      </dsp:nvSpPr>
      <dsp:spPr>
        <a:xfrm>
          <a:off x="2607854" y="376911"/>
          <a:ext cx="2862616" cy="183761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u="none" kern="12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REVIEW OF LITERATURE</a:t>
          </a:r>
          <a:endParaRPr lang="en-US" sz="1400" u="none" kern="120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607854" y="376911"/>
        <a:ext cx="2862616" cy="1837619"/>
      </dsp:txXfrm>
    </dsp:sp>
    <dsp:sp modelId="{94D84467-F5F2-4770-BFEF-EDA99A13D741}">
      <dsp:nvSpPr>
        <dsp:cNvPr id="0" name=""/>
        <dsp:cNvSpPr/>
      </dsp:nvSpPr>
      <dsp:spPr>
        <a:xfrm>
          <a:off x="26998" y="2608501"/>
          <a:ext cx="2591731" cy="162325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Study Stock Market </a:t>
          </a:r>
          <a:endParaRPr lang="en-US" sz="1400" b="1" kern="120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6998" y="2608501"/>
        <a:ext cx="2591731" cy="1623259"/>
      </dsp:txXfrm>
    </dsp:sp>
    <dsp:sp modelId="{A740F4F2-4E52-4F93-AFB7-40C3FD208A03}">
      <dsp:nvSpPr>
        <dsp:cNvPr id="0" name=""/>
        <dsp:cNvSpPr/>
      </dsp:nvSpPr>
      <dsp:spPr>
        <a:xfrm>
          <a:off x="3001071" y="2614948"/>
          <a:ext cx="2281954" cy="161324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Prediction </a:t>
          </a:r>
        </a:p>
      </dsp:txBody>
      <dsp:txXfrm>
        <a:off x="3001071" y="2614948"/>
        <a:ext cx="2281954" cy="1613241"/>
      </dsp:txXfrm>
    </dsp:sp>
    <dsp:sp modelId="{AD8FB645-DD09-4C5C-B430-50EED1AF0456}">
      <dsp:nvSpPr>
        <dsp:cNvPr id="0" name=""/>
        <dsp:cNvSpPr/>
      </dsp:nvSpPr>
      <dsp:spPr>
        <a:xfrm>
          <a:off x="5609801" y="2578596"/>
          <a:ext cx="2468524" cy="166151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Using Machine Learning</a:t>
          </a:r>
          <a:endParaRPr lang="en-US" sz="1400" b="1" kern="120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5609801" y="2578596"/>
        <a:ext cx="2468524" cy="1661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9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9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63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8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0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6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4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8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8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04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7170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28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48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3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28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8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035BB0C-200C-4AD3-B4E2-9AB6E896FAB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7D85A-D854-48FA-A3D0-A335043CF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14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6780" y="1226723"/>
            <a:ext cx="1055020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STOCK PRICE PREDICTION USING LSTM AND GRU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17553" y="3381435"/>
            <a:ext cx="6096000" cy="20108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BHAGYASHREE PUJARI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USN : 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231VMTHR0202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349464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99867" y="452582"/>
            <a:ext cx="28472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ptos"/>
              </a:rPr>
              <a:t> </a:t>
            </a:r>
            <a: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ptos"/>
              </a:rPr>
              <a:t>CONTENT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38763" y="1571985"/>
            <a:ext cx="6096000" cy="43453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Significance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Stock Market Prediction</a:t>
            </a:r>
            <a:endParaRPr lang="en-US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 </a:t>
            </a:r>
            <a:endParaRPr lang="en-US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</a:t>
            </a:r>
            <a:endParaRPr lang="en-US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  <a:endParaRPr lang="en-US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Working Of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Model</a:t>
            </a:r>
            <a:endParaRPr lang="en-US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Analysis And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used </a:t>
            </a:r>
            <a:endParaRPr lang="en-US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US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</a:t>
            </a:r>
            <a:endParaRPr lang="en-US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670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77932" y="0"/>
            <a:ext cx="4288353" cy="90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INTRODUCTION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163" y="1074617"/>
            <a:ext cx="1153621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stock market is complex, influenced by economic indicators, news, and investor emotions, causing unpredictability.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advances enable better analysis and forecasting of stock market trends and behaviors.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study develops a robust model using historical data and feature selection for accurate stock prediction.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Evaluating model accuracy with metrics ensures dependable forecasting, benefiting investors, brokers, and financial strategies.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collection, preprocessing, and selecting relevant features are critical for effective machine learning model building.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Training models with algorithms like regression, SVM, and neural networks optimizes predictions on stock performance.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model refinement through new data and feedback improves prediction accuracy and real-time stock market forecasts.</a:t>
            </a:r>
          </a:p>
        </p:txBody>
      </p:sp>
    </p:spTree>
    <p:extLst>
      <p:ext uri="{BB962C8B-B14F-4D97-AF65-F5344CB8AC3E}">
        <p14:creationId xmlns:p14="http://schemas.microsoft.com/office/powerpoint/2010/main" val="365693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39262" y="135374"/>
            <a:ext cx="930040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SIGNIFICANCE OF STOCK MARKET PREDICTION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63040" y="1857726"/>
            <a:ext cx="943275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helps investors make informed decisions using historical stock data.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 management improves by adjusting portfolios according to predicted market trends.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Algorithmic trading automates transactions using machine learning-based trading strategies.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models forecast stock prices by analyzing past financial performance.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series methods like ARIMA and LSTM capture temporal stock patterns.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Sentiment analysis evaluates news and social media to gauge market mood.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cleaning, feature engineering, and evaluation metrics improve model accuracy.</a:t>
            </a:r>
          </a:p>
        </p:txBody>
      </p:sp>
    </p:spTree>
    <p:extLst>
      <p:ext uri="{BB962C8B-B14F-4D97-AF65-F5344CB8AC3E}">
        <p14:creationId xmlns:p14="http://schemas.microsoft.com/office/powerpoint/2010/main" val="1611068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80360" y="316407"/>
            <a:ext cx="35605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OBJECTIVES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65381" y="1140372"/>
            <a:ext cx="9162474" cy="527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a deep learning model utilizing LSTM and GRU networks to efficiently forecast stock prices by learning from past market data and detecting intricate patterns in price movements.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time series cross-validation to evaluate the model performance on various time segments, with a focus on ensuring the stability and ability of the model to generalize to unknown data.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Assess the accuracy and reliability of the model’s stock price predictions by calculating MSE, RMSE, and MAE, ensuring the model's effectiveness in forecasting and minimizing errors.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Integrate risk management strategies such as stop-loss limits to prevent large financial losses and portfolio diversification to distribute risk, minimizing potential negative impacts from incorrect stock price predictions and enhancing decision-making in volatile market conditions.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58339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7343" y="71666"/>
            <a:ext cx="5800370" cy="90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LITERATURE REVIEW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419168098"/>
              </p:ext>
            </p:extLst>
          </p:nvPr>
        </p:nvGraphicFramePr>
        <p:xfrm>
          <a:off x="2038365" y="1165051"/>
          <a:ext cx="8078326" cy="4616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5289492" y="5904407"/>
            <a:ext cx="18952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Literature Map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46041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7343" y="71666"/>
            <a:ext cx="5800370" cy="90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LITERATURE REVIEW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441513"/>
              </p:ext>
            </p:extLst>
          </p:nvPr>
        </p:nvGraphicFramePr>
        <p:xfrm>
          <a:off x="1222260" y="1282185"/>
          <a:ext cx="9300755" cy="5188869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560358">
                  <a:extLst>
                    <a:ext uri="{9D8B030D-6E8A-4147-A177-3AD203B41FA5}">
                      <a16:colId xmlns:a16="http://schemas.microsoft.com/office/drawing/2014/main" val="3101027954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1963618453"/>
                    </a:ext>
                  </a:extLst>
                </a:gridCol>
                <a:gridCol w="1413164">
                  <a:extLst>
                    <a:ext uri="{9D8B030D-6E8A-4147-A177-3AD203B41FA5}">
                      <a16:colId xmlns:a16="http://schemas.microsoft.com/office/drawing/2014/main" val="12096925"/>
                    </a:ext>
                  </a:extLst>
                </a:gridCol>
                <a:gridCol w="1838036">
                  <a:extLst>
                    <a:ext uri="{9D8B030D-6E8A-4147-A177-3AD203B41FA5}">
                      <a16:colId xmlns:a16="http://schemas.microsoft.com/office/drawing/2014/main" val="170319522"/>
                    </a:ext>
                  </a:extLst>
                </a:gridCol>
                <a:gridCol w="2272145">
                  <a:extLst>
                    <a:ext uri="{9D8B030D-6E8A-4147-A177-3AD203B41FA5}">
                      <a16:colId xmlns:a16="http://schemas.microsoft.com/office/drawing/2014/main" val="799203858"/>
                    </a:ext>
                  </a:extLst>
                </a:gridCol>
                <a:gridCol w="1748470">
                  <a:extLst>
                    <a:ext uri="{9D8B030D-6E8A-4147-A177-3AD203B41FA5}">
                      <a16:colId xmlns:a16="http://schemas.microsoft.com/office/drawing/2014/main" val="1055424077"/>
                    </a:ext>
                  </a:extLst>
                </a:gridCol>
              </a:tblGrid>
              <a:tr h="86896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name with year of publication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name (Algorithm)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parameters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extLst>
                  <a:ext uri="{0D108BD9-81ED-4DB2-BD59-A6C34878D82A}">
                    <a16:rowId xmlns:a16="http://schemas.microsoft.com/office/drawing/2014/main" val="1776660185"/>
                  </a:ext>
                </a:extLst>
              </a:tr>
              <a:tr h="12739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Lokesh Chouhan, Navanshu Agarwal (2018)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Regression and LSTM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 in prediction accuracy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 of Regression and LSTM on Yahoo finance dataset; factors like open, close, low, high, volume considered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specific cons mentioned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61260621"/>
                  </a:ext>
                </a:extLst>
              </a:tr>
              <a:tr h="23115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Kranthi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Sai Reddy (2018)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(SVM)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prediction for large and small capitalizations; daily and minute frequencies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Uses ML approach trained on available stocks data; uses Python; combines technical, fundamental, and time series analysis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specific cons mentioned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21076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492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7343" y="71666"/>
            <a:ext cx="5800370" cy="90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LITERATURE REVIEW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01752"/>
              </p:ext>
            </p:extLst>
          </p:nvPr>
        </p:nvGraphicFramePr>
        <p:xfrm>
          <a:off x="932873" y="1291420"/>
          <a:ext cx="9993744" cy="5348127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602110">
                  <a:extLst>
                    <a:ext uri="{9D8B030D-6E8A-4147-A177-3AD203B41FA5}">
                      <a16:colId xmlns:a16="http://schemas.microsoft.com/office/drawing/2014/main" val="3101027954"/>
                    </a:ext>
                  </a:extLst>
                </a:gridCol>
                <a:gridCol w="1300117">
                  <a:extLst>
                    <a:ext uri="{9D8B030D-6E8A-4147-A177-3AD203B41FA5}">
                      <a16:colId xmlns:a16="http://schemas.microsoft.com/office/drawing/2014/main" val="1963618453"/>
                    </a:ext>
                  </a:extLst>
                </a:gridCol>
                <a:gridCol w="2143703">
                  <a:extLst>
                    <a:ext uri="{9D8B030D-6E8A-4147-A177-3AD203B41FA5}">
                      <a16:colId xmlns:a16="http://schemas.microsoft.com/office/drawing/2014/main" val="12096925"/>
                    </a:ext>
                  </a:extLst>
                </a:gridCol>
                <a:gridCol w="1707023">
                  <a:extLst>
                    <a:ext uri="{9D8B030D-6E8A-4147-A177-3AD203B41FA5}">
                      <a16:colId xmlns:a16="http://schemas.microsoft.com/office/drawing/2014/main" val="170319522"/>
                    </a:ext>
                  </a:extLst>
                </a:gridCol>
                <a:gridCol w="2768951">
                  <a:extLst>
                    <a:ext uri="{9D8B030D-6E8A-4147-A177-3AD203B41FA5}">
                      <a16:colId xmlns:a16="http://schemas.microsoft.com/office/drawing/2014/main" val="799203858"/>
                    </a:ext>
                  </a:extLst>
                </a:gridCol>
                <a:gridCol w="1471840">
                  <a:extLst>
                    <a:ext uri="{9D8B030D-6E8A-4147-A177-3AD203B41FA5}">
                      <a16:colId xmlns:a16="http://schemas.microsoft.com/office/drawing/2014/main" val="1055424077"/>
                    </a:ext>
                  </a:extLst>
                </a:gridCol>
              </a:tblGrid>
              <a:tr h="86896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name with year of publication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name (Algorithm)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parameters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extLst>
                  <a:ext uri="{0D108BD9-81ED-4DB2-BD59-A6C34878D82A}">
                    <a16:rowId xmlns:a16="http://schemas.microsoft.com/office/drawing/2014/main" val="1776660185"/>
                  </a:ext>
                </a:extLst>
              </a:tr>
              <a:tr h="12739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Mehak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Usmani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Syed Hasan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Adil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Kamran Raza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Iqra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(2016)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Single Layer Perceptron (SLP), Multi-Layer Perceptron (MLP), Radial Basis Function (RBF), Support Vector Machine (SVM)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MLP performed best; oil rate highly relevant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ML techniques compared; integrates old statistical methods and multiple attributes including news and social media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specific cons mentioned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61260621"/>
                  </a:ext>
                </a:extLst>
              </a:tr>
              <a:tr h="23115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Shunrong Shen, Haomiao Jiang, Tongda Zhang (2015)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(SVM), reinforcement learning, regression algorithms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accuracy: NASDAQ 74.4%, S&amp;P500 76%, DJIA 77.6%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global stock market temporal correlation; simple trading model; applies multiple algorithms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specific cons mentioned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21076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905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7343" y="71666"/>
            <a:ext cx="5800370" cy="90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LITERATURE REVIEW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159530"/>
              </p:ext>
            </p:extLst>
          </p:nvPr>
        </p:nvGraphicFramePr>
        <p:xfrm>
          <a:off x="935933" y="1402258"/>
          <a:ext cx="10138468" cy="525405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610829">
                  <a:extLst>
                    <a:ext uri="{9D8B030D-6E8A-4147-A177-3AD203B41FA5}">
                      <a16:colId xmlns:a16="http://schemas.microsoft.com/office/drawing/2014/main" val="3101027954"/>
                    </a:ext>
                  </a:extLst>
                </a:gridCol>
                <a:gridCol w="1600856">
                  <a:extLst>
                    <a:ext uri="{9D8B030D-6E8A-4147-A177-3AD203B41FA5}">
                      <a16:colId xmlns:a16="http://schemas.microsoft.com/office/drawing/2014/main" val="1963618453"/>
                    </a:ext>
                  </a:extLst>
                </a:gridCol>
                <a:gridCol w="2416386">
                  <a:extLst>
                    <a:ext uri="{9D8B030D-6E8A-4147-A177-3AD203B41FA5}">
                      <a16:colId xmlns:a16="http://schemas.microsoft.com/office/drawing/2014/main" val="12096925"/>
                    </a:ext>
                  </a:extLst>
                </a:gridCol>
                <a:gridCol w="2003588">
                  <a:extLst>
                    <a:ext uri="{9D8B030D-6E8A-4147-A177-3AD203B41FA5}">
                      <a16:colId xmlns:a16="http://schemas.microsoft.com/office/drawing/2014/main" val="170319522"/>
                    </a:ext>
                  </a:extLst>
                </a:gridCol>
                <a:gridCol w="1751880">
                  <a:extLst>
                    <a:ext uri="{9D8B030D-6E8A-4147-A177-3AD203B41FA5}">
                      <a16:colId xmlns:a16="http://schemas.microsoft.com/office/drawing/2014/main" val="799203858"/>
                    </a:ext>
                  </a:extLst>
                </a:gridCol>
                <a:gridCol w="1754929">
                  <a:extLst>
                    <a:ext uri="{9D8B030D-6E8A-4147-A177-3AD203B41FA5}">
                      <a16:colId xmlns:a16="http://schemas.microsoft.com/office/drawing/2014/main" val="1055424077"/>
                    </a:ext>
                  </a:extLst>
                </a:gridCol>
              </a:tblGrid>
              <a:tr h="86896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name with year of publication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name (Algorithm)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parameters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US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503" marR="48503" marT="0" marB="0"/>
                </a:tc>
                <a:extLst>
                  <a:ext uri="{0D108BD9-81ED-4DB2-BD59-A6C34878D82A}">
                    <a16:rowId xmlns:a16="http://schemas.microsoft.com/office/drawing/2014/main" val="1776660185"/>
                  </a:ext>
                </a:extLst>
              </a:tr>
              <a:tr h="12739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Hiransha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Ma,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Gopalakrishnan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E. Ab, Vijay Krishna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Menonab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Soman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K.P (2018)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architectures: MLP, RNN, LSTM, CNN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Outperformed ARIMA; effective for NSE and NYSE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networks outperform linear models; shared dynamics between NSE and NYSE exploited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specific cons mentioned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61260621"/>
                  </a:ext>
                </a:extLst>
              </a:tr>
              <a:tr h="23115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Umer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Ghania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M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Awaisa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Muhammad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Muzammu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(2019)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 (LR), Three month Moving Average (3MMA), Exponential Smoothing (ES), Time Series Forecasting using MS Excel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trend prediction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 of multiple ML algorithms and statistical tools; focus on non-linear signal prediction with AI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specific cons mentioned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21076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23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94964" y="-113060"/>
            <a:ext cx="4429418" cy="90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METHODOLOGY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018474" y="1308276"/>
            <a:ext cx="4443854" cy="43011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06251" y="5851173"/>
            <a:ext cx="2362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Proposed Workflow</a:t>
            </a:r>
            <a:endParaRPr lang="en-US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454601" y="1259120"/>
            <a:ext cx="5992381" cy="4855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LSTM addresses long-term dependencies for accurate stock market predictions.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CNN extracts visual features, enhancing prediction through layered processing.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LSTM-CNN combines sequential and spatial features for better accuracy.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provides interactive, collaborative environment ideal for machine learning.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libraries like Pandas,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-learn,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enable robust modeling.</a:t>
            </a:r>
          </a:p>
        </p:txBody>
      </p:sp>
    </p:spTree>
    <p:extLst>
      <p:ext uri="{BB962C8B-B14F-4D97-AF65-F5344CB8AC3E}">
        <p14:creationId xmlns:p14="http://schemas.microsoft.com/office/powerpoint/2010/main" val="3197391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94964" y="-113060"/>
            <a:ext cx="4429418" cy="90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METHODOLOGY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901583" y="1273925"/>
            <a:ext cx="5526925" cy="4194001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7483215" y="1088217"/>
            <a:ext cx="2748915" cy="47739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19248" y="6227679"/>
            <a:ext cx="16305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LSTM layers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2595299" y="5858347"/>
            <a:ext cx="23477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LSTM Architecture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3458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79720" y="1305099"/>
            <a:ext cx="7540135" cy="403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80528" y="5793570"/>
            <a:ext cx="21778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CNN Architecture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3594964" y="-113060"/>
            <a:ext cx="4429418" cy="90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METHODOLOGY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1118122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6695" y="-94588"/>
            <a:ext cx="1014581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200"/>
              </a:spcBef>
            </a:pP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DATA ANALYSIS AND INTERPRETATION</a:t>
            </a:r>
            <a:endParaRPr lang="en-US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ang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890" y="1406669"/>
            <a:ext cx="4370619" cy="3377768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384464" y="1382107"/>
            <a:ext cx="4613910" cy="34023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8763" y="5147116"/>
            <a:ext cx="44537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is a blue bubble correlation matrix showing strong positive relationships among Open, High, and Low variables.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84463" y="5245469"/>
            <a:ext cx="46139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 shows percentage distribution of "Open" values, peaking near 500 and varying across range.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946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6695" y="-94588"/>
            <a:ext cx="1014581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200"/>
              </a:spcBef>
            </a:pP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DATA ANALYSIS AND INTERPRETATION</a:t>
            </a:r>
            <a:endParaRPr lang="en-US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ang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66853" y="1407131"/>
            <a:ext cx="4515111" cy="3275706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443922" y="1397894"/>
            <a:ext cx="4741314" cy="32849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66852" y="5050232"/>
            <a:ext cx="45151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 shows varying percentage values for different categories on the x-axis from 300 to 800.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43922" y="5050232"/>
            <a:ext cx="49845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shows predicted Google stock prices consistently lower and smoother than the volatile real prices.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837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57864" y="1509277"/>
            <a:ext cx="5222499" cy="331712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474692" y="1509278"/>
            <a:ext cx="5403274" cy="33171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60973" y="196335"/>
            <a:ext cx="39180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CODING USED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8692" y="5110171"/>
            <a:ext cx="530167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loads stock price data, scales it, and prepares sequences for training a machine learning model on time series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13238" y="5110171"/>
            <a:ext cx="51261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initializes a Sequential RNN with three LSTM layers, each having 50 units and dropout regularization to prevent overfitting.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801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47255" y="1452419"/>
            <a:ext cx="5373254" cy="321194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360391" y="1452419"/>
            <a:ext cx="5567218" cy="32119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60973" y="196335"/>
            <a:ext cx="39180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CODING USED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7255" y="5137881"/>
            <a:ext cx="52347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adds LSTM and Dropout layers to an RNN, compiles it with Adam optimizer, mean squared error loss, and trains on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60391" y="5137881"/>
            <a:ext cx="55672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 shows a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model training log with decreasing loss over 10 epochs, indicating effective learning.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609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09072" y="1657148"/>
            <a:ext cx="4892964" cy="3118053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292907" y="1657148"/>
            <a:ext cx="5160183" cy="31180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60973" y="196335"/>
            <a:ext cx="39180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CODING USED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072" y="5066463"/>
            <a:ext cx="48929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loads real stock prices, combines datasets, reshapes and scales inputs, then prepares test data for stock price prediction.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92907" y="5158796"/>
            <a:ext cx="52710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snippet reshapes test data, predicts stock prices, reverses scaling, and plots actual vs. predicted Google stock prices using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703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932700" y="177861"/>
            <a:ext cx="36615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CONCLUSION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38037" y="1360622"/>
            <a:ext cx="867294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predicts stock market performance using artificial intelligence techniques.</a:t>
            </a:r>
          </a:p>
          <a:p>
            <a:pPr marL="342900" marR="0" lvl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 market affected by dynamic economic, social, and political factors.</a:t>
            </a:r>
          </a:p>
          <a:p>
            <a:pPr marL="342900" marR="0" lvl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Algorithms identify patterns, trends to forecast future stock prices accurately.</a:t>
            </a:r>
          </a:p>
          <a:p>
            <a:pPr marL="342900" marR="0" lvl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 include regression, time series, neural networks, and deep learning.</a:t>
            </a:r>
          </a:p>
          <a:p>
            <a:pPr marL="342900" marR="0" lvl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Predictions aid finance in portfolio optimization, risk management, and trading.</a:t>
            </a:r>
          </a:p>
          <a:p>
            <a:pPr marL="342900" marR="0" lvl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 depends on data quality, features, algorithm complexity, and volatility.</a:t>
            </a:r>
          </a:p>
        </p:txBody>
      </p:sp>
    </p:spTree>
    <p:extLst>
      <p:ext uri="{BB962C8B-B14F-4D97-AF65-F5344CB8AC3E}">
        <p14:creationId xmlns:p14="http://schemas.microsoft.com/office/powerpoint/2010/main" val="374643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05890" y="1610004"/>
            <a:ext cx="882996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 market prediction with machine learning is rapidly evolving and promising.</a:t>
            </a:r>
          </a:p>
          <a:p>
            <a:pPr marL="342900" marR="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algorithms will enhance prediction accuracy over time significantly.</a:t>
            </a:r>
          </a:p>
          <a:p>
            <a:pPr marL="342900" marR="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Integrating diverse data like news and social media boosts prediction quality.</a:t>
            </a:r>
          </a:p>
          <a:p>
            <a:pPr marL="342900" marR="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Developing models capturing non-linear financial relationships is crucial.</a:t>
            </a:r>
          </a:p>
          <a:p>
            <a:pPr marL="342900" marR="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 learning techniques show growing potential in stock market forecasting.</a:t>
            </a:r>
          </a:p>
          <a:p>
            <a:pPr marL="342900" marR="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Future advancements promise more precise, reliable stock market predictions.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3268" y="232834"/>
            <a:ext cx="4128053" cy="718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</a:t>
            </a:r>
            <a:endParaRPr lang="en-US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099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81100" y="114300"/>
            <a:ext cx="100457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</a:rPr>
              <a:t>REFERENCES</a:t>
            </a:r>
            <a:endParaRPr lang="en-US" sz="4000" b="1" dirty="0"/>
          </a:p>
        </p:txBody>
      </p:sp>
      <p:sp>
        <p:nvSpPr>
          <p:cNvPr id="6" name="Rectangle 5"/>
          <p:cNvSpPr/>
          <p:nvPr/>
        </p:nvSpPr>
        <p:spPr>
          <a:xfrm>
            <a:off x="471056" y="1072711"/>
            <a:ext cx="11203708" cy="5591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6400" marR="0" indent="-4064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[1]	T. Z.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Shen,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Haomiao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Jiang, “Successful user experience: Strategies and roadmaps,” Success. User Exp.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Roadmaps, pp. 1–344, 2015,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10.1016/c2013-0-19353-1.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  <a:p>
            <a:pPr marL="406400" marR="0" indent="-4064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[2]	M.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Hiransha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A.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Gopalakrishnan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V. K. Menon, and K. P.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“NSE Stock Market Prediction Using Deep-Learning Models,” Procedia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Sci., vol. 132, no.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Iccids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pp. 1351–1362, 2018,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10.1016/j.procs.2018.05.050.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  <a:p>
            <a:pPr marL="406400" marR="0" indent="-4064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[3]	A. I. Al-Alawi and Y. A.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Alaali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“Stock Market Prediction using Machine Learning Techniques: Literature Review Analysis,” 2023 Int. Conf. Cyber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Eng.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CyMaEn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2023, no. January 2023, pp. 153–157, 2023,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10.1109/CyMaEn57228.2023.10050933.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  <a:p>
            <a:pPr marL="406400" marR="0" indent="-4064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[4]	J.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Chakravarty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B. K.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Paikaray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H.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Bhoyar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“Stock Market Prediction Using Machine Learning Techniques,” CEUR Workshop Proc., vol. 3283, pp. 163–171, 2021,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10.32628/cseit1952296.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  <a:p>
            <a:pPr marL="406400" marR="0" indent="-4064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[5]	P. Sidhu, H. Aggarwal, and M. Lal, “Stock Market Prediction using LSTM,” vol. 10, no. 3, pp. 20–30, 2021,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10.4108/eai.27-2-2020.2303545.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11026902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</TotalTime>
  <Words>1229</Words>
  <Application>Microsoft Office PowerPoint</Application>
  <PresentationFormat>Widescreen</PresentationFormat>
  <Paragraphs>147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Century Gothic</vt:lpstr>
      <vt:lpstr>Mangal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12</cp:revision>
  <dcterms:created xsi:type="dcterms:W3CDTF">2025-05-22T09:49:09Z</dcterms:created>
  <dcterms:modified xsi:type="dcterms:W3CDTF">2025-05-22T11:05:49Z</dcterms:modified>
</cp:coreProperties>
</file>